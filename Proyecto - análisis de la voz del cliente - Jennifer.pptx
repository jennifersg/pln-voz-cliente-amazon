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7A5F"/>
    <a:srgbClr val="6B8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59" d="100"/>
          <a:sy n="59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64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KRadim/edit_amazon_reviews_multi_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3fe96af8cce1a1eb0.gradio.live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3fe96af8cce1a1eb0.gradio.liv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75E5FAFF-003D-10DE-4ACD-0F5C96954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C4D5F">
                  <a:alpha val="80000"/>
                </a:srgbClr>
              </a:gs>
              <a:gs pos="50000">
                <a:srgbClr val="1C4D5F">
                  <a:alpha val="90000"/>
                </a:srgbClr>
              </a:gs>
              <a:gs pos="100000">
                <a:srgbClr val="1C4D5F">
                  <a:alpha val="95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270000" y="2286000"/>
            <a:ext cx="1371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inteligente para el análisis</a:t>
            </a:r>
            <a:endParaRPr lang="en-US" sz="4800" dirty="0"/>
          </a:p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la voz del cliente en reseñas de productos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2540000" y="4318000"/>
            <a:ext cx="1117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Proyecto de Procesamiento de Lenguaje Natural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4953000" y="5334000"/>
            <a:ext cx="6350000" cy="508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953000" y="5334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</a:t>
            </a:r>
            <a:r>
              <a:rPr lang="en-US" sz="180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Sentimientos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778000" y="7620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Jennifer Suarez Gutiérrez</a:t>
            </a:r>
            <a:r>
              <a:rPr lang="en-US" sz="24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Maestría en Ciencia de Datos e IA</a:t>
            </a:r>
            <a:endParaRPr lang="en-US" sz="2400" dirty="0"/>
          </a:p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Universidad Católica Boliviana San Pablo · Julio 2026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Estructura de la presentación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16000" y="1905000"/>
            <a:ext cx="8636000" cy="6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24000" y="2286000"/>
            <a:ext cx="609600" cy="60960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24000" y="2286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413000" y="2222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Problema y caso de uso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13000" y="2730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se resuelve y para quién?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3302000"/>
            <a:ext cx="762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24000" y="3556000"/>
            <a:ext cx="609600" cy="60960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24000" y="3556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13000" y="3492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Datos y preparación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13000" y="4000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Origen, tamaño y etiquetado del dataset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24000" y="4572000"/>
            <a:ext cx="762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524000" y="4826000"/>
            <a:ext cx="609600" cy="60960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4000" y="4826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13000" y="4762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PLN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13000" y="5270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Preprocesamiento → Representación → Temas → Sentimiento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24000" y="5842000"/>
            <a:ext cx="762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24000" y="6096000"/>
            <a:ext cx="609600" cy="60960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24000" y="6096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13000" y="6032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Comparación de modelos y demostración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413000" y="6540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Clásico vs. neuronal + Demo en vivo de la interfaz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524000" y="7112000"/>
            <a:ext cx="7620000" cy="1270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24000" y="7366000"/>
            <a:ext cx="609600" cy="609600"/>
          </a:xfrm>
          <a:prstGeom prst="ellipse">
            <a:avLst/>
          </a:pr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24000" y="73660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13000" y="7302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Desafíos, conclusiones y mejoras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413000" y="7810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7777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Decisiones tomadas, limitaciones y trabajo futuro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160000" y="1905000"/>
            <a:ext cx="5080000" cy="635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C4D5F"/>
              </a:gs>
              <a:gs pos="100000">
                <a:srgbClr val="2A6B80"/>
              </a:gs>
            </a:gsLst>
            <a:lin ang="81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938000" y="3556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357188" y="166688"/>
                </a:moveTo>
                <a:cubicBezTo>
                  <a:pt x="357188" y="74712"/>
                  <a:pt x="431899" y="0"/>
                  <a:pt x="523875" y="0"/>
                </a:cubicBezTo>
                <a:lnTo>
                  <a:pt x="595313" y="0"/>
                </a:lnTo>
                <a:cubicBezTo>
                  <a:pt x="647998" y="0"/>
                  <a:pt x="690563" y="42565"/>
                  <a:pt x="690563" y="95250"/>
                </a:cubicBezTo>
                <a:lnTo>
                  <a:pt x="690563" y="1428750"/>
                </a:lnTo>
                <a:cubicBezTo>
                  <a:pt x="690563" y="1481435"/>
                  <a:pt x="647998" y="1524000"/>
                  <a:pt x="595313" y="1524000"/>
                </a:cubicBezTo>
                <a:lnTo>
                  <a:pt x="500063" y="1524000"/>
                </a:lnTo>
                <a:cubicBezTo>
                  <a:pt x="411361" y="1524000"/>
                  <a:pt x="336649" y="1463278"/>
                  <a:pt x="315516" y="1381125"/>
                </a:cubicBezTo>
                <a:cubicBezTo>
                  <a:pt x="313432" y="1381125"/>
                  <a:pt x="311646" y="1381125"/>
                  <a:pt x="309563" y="1381125"/>
                </a:cubicBezTo>
                <a:cubicBezTo>
                  <a:pt x="177998" y="1381125"/>
                  <a:pt x="71438" y="1274564"/>
                  <a:pt x="71438" y="1143000"/>
                </a:cubicBezTo>
                <a:cubicBezTo>
                  <a:pt x="71438" y="1089422"/>
                  <a:pt x="89297" y="1040011"/>
                  <a:pt x="119063" y="1000125"/>
                </a:cubicBezTo>
                <a:cubicBezTo>
                  <a:pt x="61317" y="956667"/>
                  <a:pt x="23812" y="887611"/>
                  <a:pt x="23812" y="809625"/>
                </a:cubicBezTo>
                <a:cubicBezTo>
                  <a:pt x="23812" y="717649"/>
                  <a:pt x="76200" y="637580"/>
                  <a:pt x="152400" y="597991"/>
                </a:cubicBezTo>
                <a:cubicBezTo>
                  <a:pt x="131266" y="562273"/>
                  <a:pt x="119063" y="520601"/>
                  <a:pt x="119063" y="476250"/>
                </a:cubicBezTo>
                <a:cubicBezTo>
                  <a:pt x="119063" y="344686"/>
                  <a:pt x="225623" y="238125"/>
                  <a:pt x="357188" y="238125"/>
                </a:cubicBezTo>
                <a:lnTo>
                  <a:pt x="357188" y="166688"/>
                </a:lnTo>
                <a:close/>
                <a:moveTo>
                  <a:pt x="1166813" y="166688"/>
                </a:moveTo>
                <a:lnTo>
                  <a:pt x="1166813" y="238125"/>
                </a:lnTo>
                <a:cubicBezTo>
                  <a:pt x="1298377" y="238125"/>
                  <a:pt x="1404938" y="344686"/>
                  <a:pt x="1404938" y="476250"/>
                </a:cubicBezTo>
                <a:cubicBezTo>
                  <a:pt x="1404938" y="520898"/>
                  <a:pt x="1392734" y="562570"/>
                  <a:pt x="1371600" y="597991"/>
                </a:cubicBezTo>
                <a:cubicBezTo>
                  <a:pt x="1448098" y="637580"/>
                  <a:pt x="1500188" y="717352"/>
                  <a:pt x="1500188" y="809625"/>
                </a:cubicBezTo>
                <a:cubicBezTo>
                  <a:pt x="1500188" y="887611"/>
                  <a:pt x="1462683" y="956667"/>
                  <a:pt x="1404938" y="1000125"/>
                </a:cubicBezTo>
                <a:cubicBezTo>
                  <a:pt x="1434703" y="1040011"/>
                  <a:pt x="1452563" y="1089422"/>
                  <a:pt x="1452563" y="1143000"/>
                </a:cubicBezTo>
                <a:cubicBezTo>
                  <a:pt x="1452563" y="1274564"/>
                  <a:pt x="1346002" y="1381125"/>
                  <a:pt x="1214438" y="1381125"/>
                </a:cubicBezTo>
                <a:cubicBezTo>
                  <a:pt x="1212354" y="1381125"/>
                  <a:pt x="1210568" y="1381125"/>
                  <a:pt x="1208484" y="1381125"/>
                </a:cubicBezTo>
                <a:cubicBezTo>
                  <a:pt x="1187351" y="1463278"/>
                  <a:pt x="1112639" y="1524000"/>
                  <a:pt x="1023938" y="1524000"/>
                </a:cubicBezTo>
                <a:lnTo>
                  <a:pt x="928688" y="1524000"/>
                </a:lnTo>
                <a:cubicBezTo>
                  <a:pt x="876002" y="1524000"/>
                  <a:pt x="833438" y="1481435"/>
                  <a:pt x="833438" y="1428750"/>
                </a:cubicBezTo>
                <a:lnTo>
                  <a:pt x="833438" y="95250"/>
                </a:lnTo>
                <a:cubicBezTo>
                  <a:pt x="833438" y="42565"/>
                  <a:pt x="876002" y="0"/>
                  <a:pt x="928688" y="0"/>
                </a:cubicBezTo>
                <a:lnTo>
                  <a:pt x="1000125" y="0"/>
                </a:lnTo>
                <a:cubicBezTo>
                  <a:pt x="1092101" y="0"/>
                  <a:pt x="1166813" y="74712"/>
                  <a:pt x="1166813" y="16668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68000" y="5334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Voz del Cliente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0668000" y="6096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inteligente de reseñas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 Procesamiento de Lenguaje Natural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problema: ¿qué se resuelve y para quién?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6604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97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32000" y="2032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desafío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7000" y="2667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 miles de reseñas que las empresas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pueden analizar manualmente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 pierde información sobre calidad, envío y precio.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778000"/>
            <a:ext cx="7112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09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2032000"/>
            <a:ext cx="55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solución propuesta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9000" y="2667000"/>
            <a:ext cx="635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Una aplicación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PLN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que integra en una única herramienta: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Clasificación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sentimientos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aspectos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relevantes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Modelado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temas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 LDA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5325073"/>
            <a:ext cx="14224000" cy="2794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C4D5F"/>
              </a:gs>
              <a:gs pos="100000">
                <a:srgbClr val="2A6B80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24000" y="5579073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¿Para quién es esta solución?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778000" y="634107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68" y="57388"/>
                </a:moveTo>
                <a:cubicBezTo>
                  <a:pt x="29845" y="38418"/>
                  <a:pt x="47228" y="25400"/>
                  <a:pt x="66993" y="25400"/>
                </a:cubicBezTo>
                <a:lnTo>
                  <a:pt x="340042" y="25400"/>
                </a:lnTo>
                <a:cubicBezTo>
                  <a:pt x="359807" y="25400"/>
                  <a:pt x="377190" y="38418"/>
                  <a:pt x="382746" y="57388"/>
                </a:cubicBezTo>
                <a:lnTo>
                  <a:pt x="401320" y="121047"/>
                </a:lnTo>
                <a:cubicBezTo>
                  <a:pt x="411480" y="155734"/>
                  <a:pt x="385366" y="190500"/>
                  <a:pt x="349250" y="190500"/>
                </a:cubicBezTo>
                <a:cubicBezTo>
                  <a:pt x="328374" y="190500"/>
                  <a:pt x="310039" y="178673"/>
                  <a:pt x="300990" y="161052"/>
                </a:cubicBezTo>
                <a:cubicBezTo>
                  <a:pt x="291783" y="178435"/>
                  <a:pt x="273526" y="190500"/>
                  <a:pt x="252254" y="190500"/>
                </a:cubicBezTo>
                <a:cubicBezTo>
                  <a:pt x="231140" y="190500"/>
                  <a:pt x="212804" y="178594"/>
                  <a:pt x="203597" y="161131"/>
                </a:cubicBezTo>
                <a:cubicBezTo>
                  <a:pt x="194389" y="178594"/>
                  <a:pt x="176054" y="190500"/>
                  <a:pt x="154940" y="190500"/>
                </a:cubicBezTo>
                <a:cubicBezTo>
                  <a:pt x="133667" y="190500"/>
                  <a:pt x="115411" y="178514"/>
                  <a:pt x="106204" y="161052"/>
                </a:cubicBezTo>
                <a:cubicBezTo>
                  <a:pt x="97155" y="178594"/>
                  <a:pt x="78819" y="190500"/>
                  <a:pt x="57944" y="190500"/>
                </a:cubicBezTo>
                <a:cubicBezTo>
                  <a:pt x="21749" y="190500"/>
                  <a:pt x="-4286" y="155813"/>
                  <a:pt x="5874" y="121047"/>
                </a:cubicBezTo>
                <a:lnTo>
                  <a:pt x="24368" y="57388"/>
                </a:lnTo>
                <a:close/>
                <a:moveTo>
                  <a:pt x="76518" y="279400"/>
                </a:moveTo>
                <a:lnTo>
                  <a:pt x="330518" y="279400"/>
                </a:lnTo>
                <a:lnTo>
                  <a:pt x="330518" y="226695"/>
                </a:lnTo>
                <a:cubicBezTo>
                  <a:pt x="336550" y="227965"/>
                  <a:pt x="342821" y="228600"/>
                  <a:pt x="349171" y="228600"/>
                </a:cubicBezTo>
                <a:cubicBezTo>
                  <a:pt x="360521" y="228600"/>
                  <a:pt x="371396" y="226536"/>
                  <a:pt x="381317" y="222885"/>
                </a:cubicBezTo>
                <a:lnTo>
                  <a:pt x="381317" y="342900"/>
                </a:lnTo>
                <a:cubicBezTo>
                  <a:pt x="381317" y="363934"/>
                  <a:pt x="364252" y="381000"/>
                  <a:pt x="343218" y="381000"/>
                </a:cubicBezTo>
                <a:lnTo>
                  <a:pt x="63817" y="381000"/>
                </a:lnTo>
                <a:cubicBezTo>
                  <a:pt x="42783" y="381000"/>
                  <a:pt x="25717" y="363934"/>
                  <a:pt x="25717" y="342900"/>
                </a:cubicBezTo>
                <a:lnTo>
                  <a:pt x="25717" y="222885"/>
                </a:lnTo>
                <a:cubicBezTo>
                  <a:pt x="35639" y="226536"/>
                  <a:pt x="46434" y="228600"/>
                  <a:pt x="57864" y="228600"/>
                </a:cubicBezTo>
                <a:cubicBezTo>
                  <a:pt x="64294" y="228600"/>
                  <a:pt x="70485" y="227965"/>
                  <a:pt x="76517" y="226695"/>
                </a:cubicBezTo>
                <a:lnTo>
                  <a:pt x="76517" y="2794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49500" y="6341073"/>
            <a:ext cx="25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78000" y="691257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20809"/>
                </a:lnTo>
                <a:cubicBezTo>
                  <a:pt x="406400" y="106363"/>
                  <a:pt x="391001" y="97234"/>
                  <a:pt x="378301" y="104061"/>
                </a:cubicBezTo>
                <a:lnTo>
                  <a:pt x="254000" y="170974"/>
                </a:lnTo>
                <a:lnTo>
                  <a:pt x="254000" y="120809"/>
                </a:lnTo>
                <a:cubicBezTo>
                  <a:pt x="254000" y="106363"/>
                  <a:pt x="238601" y="97234"/>
                  <a:pt x="225901" y="104061"/>
                </a:cubicBezTo>
                <a:lnTo>
                  <a:pt x="101600" y="170974"/>
                </a:lnTo>
                <a:lnTo>
                  <a:pt x="101600" y="50800"/>
                </a:lnTo>
                <a:cubicBezTo>
                  <a:pt x="101600" y="36751"/>
                  <a:pt x="90249" y="25400"/>
                  <a:pt x="76200" y="25400"/>
                </a:cubicBezTo>
                <a:lnTo>
                  <a:pt x="25400" y="254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49500" y="6912573"/>
            <a:ext cx="25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Fabricantes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634107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50800"/>
                </a:moveTo>
                <a:cubicBezTo>
                  <a:pt x="131536" y="50800"/>
                  <a:pt x="71936" y="96282"/>
                  <a:pt x="60144" y="156131"/>
                </a:cubicBezTo>
                <a:cubicBezTo>
                  <a:pt x="68580" y="153749"/>
                  <a:pt x="77651" y="152400"/>
                  <a:pt x="87086" y="152400"/>
                </a:cubicBezTo>
                <a:lnTo>
                  <a:pt x="101600" y="152400"/>
                </a:lnTo>
                <a:cubicBezTo>
                  <a:pt x="125639" y="152400"/>
                  <a:pt x="145143" y="169466"/>
                  <a:pt x="145143" y="190500"/>
                </a:cubicBezTo>
                <a:lnTo>
                  <a:pt x="145143" y="266700"/>
                </a:lnTo>
                <a:cubicBezTo>
                  <a:pt x="145143" y="287734"/>
                  <a:pt x="125639" y="304800"/>
                  <a:pt x="101600" y="304800"/>
                </a:cubicBezTo>
                <a:lnTo>
                  <a:pt x="87086" y="304800"/>
                </a:lnTo>
                <a:cubicBezTo>
                  <a:pt x="39007" y="304800"/>
                  <a:pt x="0" y="270669"/>
                  <a:pt x="0" y="228600"/>
                </a:cubicBezTo>
                <a:lnTo>
                  <a:pt x="0" y="177800"/>
                </a:lnTo>
                <a:cubicBezTo>
                  <a:pt x="0" y="79613"/>
                  <a:pt x="90986" y="0"/>
                  <a:pt x="203200" y="0"/>
                </a:cubicBezTo>
                <a:cubicBezTo>
                  <a:pt x="315414" y="0"/>
                  <a:pt x="406400" y="79613"/>
                  <a:pt x="406400" y="177800"/>
                </a:cubicBezTo>
                <a:lnTo>
                  <a:pt x="406400" y="311229"/>
                </a:lnTo>
                <a:cubicBezTo>
                  <a:pt x="406400" y="363855"/>
                  <a:pt x="357596" y="406479"/>
                  <a:pt x="297452" y="406479"/>
                </a:cubicBezTo>
                <a:lnTo>
                  <a:pt x="217714" y="406400"/>
                </a:lnTo>
                <a:lnTo>
                  <a:pt x="188686" y="406400"/>
                </a:lnTo>
                <a:cubicBezTo>
                  <a:pt x="164646" y="406400"/>
                  <a:pt x="145143" y="389334"/>
                  <a:pt x="145143" y="368300"/>
                </a:cubicBezTo>
                <a:cubicBezTo>
                  <a:pt x="145143" y="347266"/>
                  <a:pt x="164646" y="330200"/>
                  <a:pt x="188686" y="330200"/>
                </a:cubicBezTo>
                <a:lnTo>
                  <a:pt x="217714" y="330200"/>
                </a:lnTo>
                <a:cubicBezTo>
                  <a:pt x="241754" y="330200"/>
                  <a:pt x="261257" y="347266"/>
                  <a:pt x="261257" y="368300"/>
                </a:cubicBezTo>
                <a:lnTo>
                  <a:pt x="261257" y="368300"/>
                </a:lnTo>
                <a:lnTo>
                  <a:pt x="297543" y="368300"/>
                </a:lnTo>
                <a:cubicBezTo>
                  <a:pt x="333647" y="368300"/>
                  <a:pt x="362857" y="342741"/>
                  <a:pt x="362857" y="311150"/>
                </a:cubicBezTo>
                <a:lnTo>
                  <a:pt x="362857" y="294561"/>
                </a:lnTo>
                <a:cubicBezTo>
                  <a:pt x="350066" y="301069"/>
                  <a:pt x="335189" y="304721"/>
                  <a:pt x="319314" y="304721"/>
                </a:cubicBezTo>
                <a:lnTo>
                  <a:pt x="304800" y="304721"/>
                </a:lnTo>
                <a:cubicBezTo>
                  <a:pt x="280761" y="304721"/>
                  <a:pt x="261257" y="287655"/>
                  <a:pt x="261257" y="266621"/>
                </a:cubicBezTo>
                <a:lnTo>
                  <a:pt x="261257" y="190421"/>
                </a:lnTo>
                <a:cubicBezTo>
                  <a:pt x="261257" y="169386"/>
                  <a:pt x="280761" y="152321"/>
                  <a:pt x="304800" y="152321"/>
                </a:cubicBezTo>
                <a:lnTo>
                  <a:pt x="319314" y="152321"/>
                </a:lnTo>
                <a:cubicBezTo>
                  <a:pt x="328749" y="152321"/>
                  <a:pt x="337729" y="153591"/>
                  <a:pt x="346256" y="156051"/>
                </a:cubicBezTo>
                <a:cubicBezTo>
                  <a:pt x="334464" y="96282"/>
                  <a:pt x="274955" y="50721"/>
                  <a:pt x="203200" y="50721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59500" y="6341073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Atención al cliente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691257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6077" y="15002"/>
                </a:moveTo>
                <a:cubicBezTo>
                  <a:pt x="375206" y="19050"/>
                  <a:pt x="381000" y="28099"/>
                  <a:pt x="381000" y="38100"/>
                </a:cubicBezTo>
                <a:lnTo>
                  <a:pt x="381000" y="368300"/>
                </a:lnTo>
                <a:cubicBezTo>
                  <a:pt x="381000" y="378301"/>
                  <a:pt x="375206" y="387350"/>
                  <a:pt x="366077" y="391398"/>
                </a:cubicBezTo>
                <a:cubicBezTo>
                  <a:pt x="356949" y="395446"/>
                  <a:pt x="346393" y="393938"/>
                  <a:pt x="338852" y="387350"/>
                </a:cubicBezTo>
                <a:lnTo>
                  <a:pt x="301863" y="355044"/>
                </a:lnTo>
                <a:cubicBezTo>
                  <a:pt x="267256" y="324803"/>
                  <a:pt x="223520" y="307181"/>
                  <a:pt x="177721" y="305038"/>
                </a:cubicBezTo>
                <a:lnTo>
                  <a:pt x="177721" y="381000"/>
                </a:lnTo>
                <a:cubicBezTo>
                  <a:pt x="177721" y="395049"/>
                  <a:pt x="166370" y="406400"/>
                  <a:pt x="152321" y="406400"/>
                </a:cubicBezTo>
                <a:lnTo>
                  <a:pt x="126921" y="406400"/>
                </a:lnTo>
                <a:cubicBezTo>
                  <a:pt x="112871" y="406400"/>
                  <a:pt x="101521" y="395049"/>
                  <a:pt x="101521" y="381000"/>
                </a:cubicBezTo>
                <a:lnTo>
                  <a:pt x="101521" y="304800"/>
                </a:lnTo>
                <a:cubicBezTo>
                  <a:pt x="45482" y="304800"/>
                  <a:pt x="0" y="259318"/>
                  <a:pt x="0" y="203200"/>
                </a:cubicBezTo>
                <a:cubicBezTo>
                  <a:pt x="0" y="147082"/>
                  <a:pt x="45482" y="101600"/>
                  <a:pt x="101600" y="101600"/>
                </a:cubicBezTo>
                <a:lnTo>
                  <a:pt x="168672" y="101600"/>
                </a:lnTo>
                <a:cubicBezTo>
                  <a:pt x="217726" y="101441"/>
                  <a:pt x="265033" y="83582"/>
                  <a:pt x="301943" y="51356"/>
                </a:cubicBezTo>
                <a:lnTo>
                  <a:pt x="338931" y="19050"/>
                </a:lnTo>
                <a:cubicBezTo>
                  <a:pt x="346393" y="12462"/>
                  <a:pt x="357108" y="10954"/>
                  <a:pt x="366157" y="15002"/>
                </a:cubicBezTo>
                <a:close/>
                <a:moveTo>
                  <a:pt x="177800" y="254000"/>
                </a:moveTo>
                <a:lnTo>
                  <a:pt x="177800" y="254159"/>
                </a:lnTo>
                <a:cubicBezTo>
                  <a:pt x="233601" y="256302"/>
                  <a:pt x="287179" y="276781"/>
                  <a:pt x="330200" y="312420"/>
                </a:cubicBezTo>
                <a:lnTo>
                  <a:pt x="330200" y="93901"/>
                </a:lnTo>
                <a:cubicBezTo>
                  <a:pt x="287179" y="129540"/>
                  <a:pt x="233601" y="150019"/>
                  <a:pt x="177800" y="152162"/>
                </a:cubicBezTo>
                <a:lnTo>
                  <a:pt x="177800" y="2540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59500" y="6912573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Equipos de marketing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06000" y="634107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77500" y="6341073"/>
            <a:ext cx="381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Toma de decisiones basada en datos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6000" y="8382000"/>
            <a:ext cx="14224000" cy="508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70000" y="8382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Objetivo:</a:t>
            </a: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Analizar automáticamente reseñas en español para identificar sentimiento, aspectos y tema predominante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 datos: origen, tamaño y preparación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6604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97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1C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32000" y="2032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Origen del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7000" y="2667000"/>
            <a:ext cx="584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KRadim/edit_amazon_reviews_multi_es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Disponible en </a:t>
            </a:r>
            <a:r>
              <a:rPr lang="en-US" sz="180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 Face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</a:t>
            </a:r>
            <a:r>
              <a:rPr lang="en-US" sz="24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210,000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reseñas en español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28000" y="1778000"/>
            <a:ext cx="711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09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85725"/>
                </a:moveTo>
                <a:cubicBezTo>
                  <a:pt x="0" y="54203"/>
                  <a:pt x="29289" y="28575"/>
                  <a:pt x="65314" y="28575"/>
                </a:cubicBezTo>
                <a:lnTo>
                  <a:pt x="391886" y="28575"/>
                </a:lnTo>
                <a:cubicBezTo>
                  <a:pt x="427911" y="28575"/>
                  <a:pt x="457200" y="54203"/>
                  <a:pt x="457200" y="85725"/>
                </a:cubicBezTo>
                <a:lnTo>
                  <a:pt x="457200" y="371475"/>
                </a:lnTo>
                <a:cubicBezTo>
                  <a:pt x="457200" y="402997"/>
                  <a:pt x="427911" y="428625"/>
                  <a:pt x="391886" y="428625"/>
                </a:cubicBezTo>
                <a:lnTo>
                  <a:pt x="65314" y="428625"/>
                </a:lnTo>
                <a:cubicBezTo>
                  <a:pt x="29289" y="428625"/>
                  <a:pt x="0" y="402997"/>
                  <a:pt x="0" y="371475"/>
                </a:cubicBezTo>
                <a:lnTo>
                  <a:pt x="0" y="85725"/>
                </a:lnTo>
                <a:close/>
                <a:moveTo>
                  <a:pt x="65314" y="142875"/>
                </a:moveTo>
                <a:lnTo>
                  <a:pt x="65314" y="371475"/>
                </a:lnTo>
                <a:lnTo>
                  <a:pt x="195943" y="371475"/>
                </a:lnTo>
                <a:lnTo>
                  <a:pt x="195943" y="142875"/>
                </a:lnTo>
                <a:lnTo>
                  <a:pt x="65314" y="142875"/>
                </a:lnTo>
                <a:close/>
                <a:moveTo>
                  <a:pt x="391886" y="142875"/>
                </a:moveTo>
                <a:lnTo>
                  <a:pt x="261257" y="142875"/>
                </a:lnTo>
                <a:lnTo>
                  <a:pt x="261257" y="371475"/>
                </a:lnTo>
                <a:lnTo>
                  <a:pt x="391886" y="371475"/>
                </a:lnTo>
                <a:lnTo>
                  <a:pt x="391886" y="142875"/>
                </a:lnTo>
                <a:close/>
              </a:path>
            </a:pathLst>
          </a:cu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0" y="2032000"/>
            <a:ext cx="55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incluidas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9000" y="2667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Texto completo de la reseña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Título de la reseña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Categoría del producto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Calificación (1-5 estrellas)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4699000"/>
            <a:ext cx="14224000" cy="39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97000" y="4953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Transformación a clasificación multiclase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397000" y="5715000"/>
            <a:ext cx="3810000" cy="1016000"/>
          </a:xfrm>
          <a:prstGeom prst="roundRect">
            <a:avLst>
              <a:gd name="adj" fmla="val 8000"/>
            </a:avLst>
          </a:prstGeom>
          <a:solidFill>
            <a:srgbClr val="FDE8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97000" y="571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 ★</a:t>
            </a:r>
            <a:endParaRPr lang="en-US" sz="28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Negativo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588000" y="5715000"/>
            <a:ext cx="3810000" cy="10160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88000" y="571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★</a:t>
            </a:r>
            <a:endParaRPr lang="en-US" sz="28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Neutro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779000" y="5715000"/>
            <a:ext cx="3810000" cy="1016000"/>
          </a:xfrm>
          <a:prstGeom prst="roundRect">
            <a:avLst>
              <a:gd name="adj" fmla="val 8000"/>
            </a:avLst>
          </a:prstGeom>
          <a:solidFill>
            <a:srgbClr val="E8F6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79000" y="5715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4-5 ★</a:t>
            </a:r>
            <a:endParaRPr lang="en-US" sz="28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Positivo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97000" y="7048500"/>
            <a:ext cx="1346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 valores faltantes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variables de análisis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Mínimas reseñas duplicadas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proporción insignificante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balanceada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entre las tres clases de sentimiento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de PLN paso a paso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1C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16000" y="177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Exploración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datos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56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64000" y="1778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64000" y="177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Preprocesamiento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Limpieza y normalización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04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12000" y="1778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1C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12000" y="177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Representación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TF-IDF, Embedding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52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60000" y="1778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0" y="177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Modelado de temas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LDA (6 temas)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0" y="2222500"/>
            <a:ext cx="508000" cy="0"/>
          </a:xfrm>
          <a:prstGeom prst="straightConnector1">
            <a:avLst/>
          </a:prstGeom>
          <a:noFill/>
          <a:ln w="25400">
            <a:solidFill>
              <a:srgbClr val="8A857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208000" y="1778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08000" y="1778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3302000"/>
            <a:ext cx="6858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97000" y="3556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Preprocesamiento del texto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97000" y="4127500"/>
            <a:ext cx="609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Conversión a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minúsculas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Eliminación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caracteres especiales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Eliminación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signos de puntuación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Eliminación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números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Eliminación de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palabras vacías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(stopwords)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7777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Conservando términos relevantes para el análisis de sentimiento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3302000"/>
            <a:ext cx="6858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63000" y="3556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Técnicas de representación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63000" y="4127500"/>
            <a:ext cx="6096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Bag of Words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Representación básica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Para Naive Bayes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Word2Vec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Embeddings distribucionales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Tokenizer + Embedding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Para LSTM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16000" y="8318500"/>
            <a:ext cx="14224000" cy="508000"/>
          </a:xfrm>
          <a:prstGeom prst="roundRect">
            <a:avLst>
              <a:gd name="adj" fmla="val 8000"/>
            </a:avLst>
          </a:prstGeom>
          <a:solidFill>
            <a:srgbClr val="1C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70000" y="8318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Modelos: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LDA (temas) | Naive Bayes (clasificación clásica) | LSTM (red neuronal) | Detección de aspectos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Comparación de modelos: clásico vs. neuronal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78000" y="1651000"/>
          <a:ext cx="12700000" cy="2794000"/>
        </p:xfrm>
        <a:graphic>
          <a:graphicData uri="http://schemas.openxmlformats.org/drawingml/2006/table">
            <a:tbl>
              <a:tblPr/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Precision (macro)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Recall (macro)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D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F1-Score (macro)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D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LSTM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E07A5F"/>
                          </a:solidFill>
                        </a:rPr>
                        <a:t>0,694</a:t>
                      </a:r>
                      <a:endParaRPr lang="en-US" sz="22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0,691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0,694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E07A5F"/>
                          </a:solidFill>
                        </a:rPr>
                        <a:t>0,692</a:t>
                      </a:r>
                      <a:endParaRPr lang="en-US" sz="22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333333"/>
                          </a:solidFill>
                        </a:rPr>
                        <a:t>Naive Bayes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0,685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0,688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0,685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0,686</a:t>
                      </a:r>
                      <a:endParaRPr lang="en-US" sz="1600" dirty="0"/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016000" y="4826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97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14300" y="85725"/>
                </a:moveTo>
                <a:cubicBezTo>
                  <a:pt x="114300" y="69919"/>
                  <a:pt x="127069" y="57150"/>
                  <a:pt x="142875" y="57150"/>
                </a:cubicBezTo>
                <a:lnTo>
                  <a:pt x="314325" y="57150"/>
                </a:lnTo>
                <a:cubicBezTo>
                  <a:pt x="330131" y="57150"/>
                  <a:pt x="342900" y="69919"/>
                  <a:pt x="342900" y="85725"/>
                </a:cubicBezTo>
                <a:cubicBezTo>
                  <a:pt x="342900" y="101531"/>
                  <a:pt x="330131" y="114300"/>
                  <a:pt x="314325" y="114300"/>
                </a:cubicBezTo>
                <a:lnTo>
                  <a:pt x="142875" y="114300"/>
                </a:lnTo>
                <a:cubicBezTo>
                  <a:pt x="127069" y="114300"/>
                  <a:pt x="114300" y="101531"/>
                  <a:pt x="114300" y="85725"/>
                </a:cubicBezTo>
                <a:close/>
                <a:moveTo>
                  <a:pt x="142875" y="157163"/>
                </a:moveTo>
                <a:lnTo>
                  <a:pt x="257175" y="157163"/>
                </a:lnTo>
                <a:cubicBezTo>
                  <a:pt x="272981" y="157163"/>
                  <a:pt x="285750" y="169932"/>
                  <a:pt x="285750" y="185738"/>
                </a:cubicBezTo>
                <a:cubicBezTo>
                  <a:pt x="285750" y="201543"/>
                  <a:pt x="272981" y="214313"/>
                  <a:pt x="257175" y="214313"/>
                </a:cubicBezTo>
                <a:lnTo>
                  <a:pt x="142875" y="214313"/>
                </a:lnTo>
                <a:cubicBezTo>
                  <a:pt x="127069" y="214313"/>
                  <a:pt x="114300" y="201543"/>
                  <a:pt x="114300" y="185738"/>
                </a:cubicBezTo>
                <a:cubicBezTo>
                  <a:pt x="114300" y="169932"/>
                  <a:pt x="127069" y="157163"/>
                  <a:pt x="142875" y="157163"/>
                </a:cubicBezTo>
                <a:close/>
                <a:moveTo>
                  <a:pt x="142875" y="257175"/>
                </a:move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142875" y="314325"/>
                </a:lnTo>
                <a:cubicBezTo>
                  <a:pt x="127069" y="314325"/>
                  <a:pt x="114300" y="301556"/>
                  <a:pt x="114300" y="285750"/>
                </a:cubicBezTo>
                <a:cubicBezTo>
                  <a:pt x="114300" y="269944"/>
                  <a:pt x="127069" y="257175"/>
                  <a:pt x="142875" y="25717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32000" y="5080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resultados</a:t>
            </a:r>
            <a:endParaRPr lang="en-US" sz="2200" dirty="0"/>
          </a:p>
        </p:txBody>
      </p:sp>
      <p:sp>
        <p:nvSpPr>
          <p:cNvPr id="3" name="Text 4"/>
          <p:cNvSpPr/>
          <p:nvPr/>
        </p:nvSpPr>
        <p:spPr>
          <a:xfrm>
            <a:off x="1397000" y="5715000"/>
            <a:ext cx="6096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alcanzó el mejor desempeño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Diferencia vs NB: </a:t>
            </a: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 punto %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 LSTM captura mejor el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NB sigue siendo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competitivo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 TF-IDF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82000" y="4826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763000" y="508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8453" y="34915"/>
                </a:moveTo>
                <a:lnTo>
                  <a:pt x="436086" y="169128"/>
                </a:lnTo>
                <a:cubicBezTo>
                  <a:pt x="458073" y="194221"/>
                  <a:pt x="458073" y="234404"/>
                  <a:pt x="436086" y="259497"/>
                </a:cubicBezTo>
                <a:lnTo>
                  <a:pt x="311944" y="400854"/>
                </a:lnTo>
                <a:cubicBezTo>
                  <a:pt x="304562" y="409248"/>
                  <a:pt x="292497" y="409337"/>
                  <a:pt x="285036" y="401032"/>
                </a:cubicBezTo>
                <a:cubicBezTo>
                  <a:pt x="277574" y="392728"/>
                  <a:pt x="277495" y="379155"/>
                  <a:pt x="284877" y="370761"/>
                </a:cubicBezTo>
                <a:lnTo>
                  <a:pt x="409019" y="229314"/>
                </a:lnTo>
                <a:cubicBezTo>
                  <a:pt x="416322" y="221010"/>
                  <a:pt x="416322" y="207526"/>
                  <a:pt x="409019" y="199221"/>
                </a:cubicBezTo>
                <a:lnTo>
                  <a:pt x="291306" y="65097"/>
                </a:lnTo>
                <a:cubicBezTo>
                  <a:pt x="283924" y="56704"/>
                  <a:pt x="284004" y="43130"/>
                  <a:pt x="291465" y="34826"/>
                </a:cubicBezTo>
                <a:cubicBezTo>
                  <a:pt x="298926" y="26521"/>
                  <a:pt x="310991" y="26610"/>
                  <a:pt x="318373" y="35004"/>
                </a:cubicBezTo>
                <a:close/>
                <a:moveTo>
                  <a:pt x="25479" y="204936"/>
                </a:moveTo>
                <a:lnTo>
                  <a:pt x="25479" y="85725"/>
                </a:lnTo>
                <a:cubicBezTo>
                  <a:pt x="25479" y="54203"/>
                  <a:pt x="48260" y="28575"/>
                  <a:pt x="76279" y="28575"/>
                </a:cubicBezTo>
                <a:lnTo>
                  <a:pt x="182245" y="28575"/>
                </a:lnTo>
                <a:cubicBezTo>
                  <a:pt x="195739" y="28575"/>
                  <a:pt x="208677" y="34558"/>
                  <a:pt x="218202" y="45274"/>
                </a:cubicBezTo>
                <a:lnTo>
                  <a:pt x="332502" y="173861"/>
                </a:lnTo>
                <a:cubicBezTo>
                  <a:pt x="352346" y="196185"/>
                  <a:pt x="352346" y="232350"/>
                  <a:pt x="332502" y="254675"/>
                </a:cubicBezTo>
                <a:lnTo>
                  <a:pt x="226536" y="373886"/>
                </a:lnTo>
                <a:cubicBezTo>
                  <a:pt x="206692" y="396210"/>
                  <a:pt x="174546" y="396210"/>
                  <a:pt x="154702" y="373886"/>
                </a:cubicBezTo>
                <a:lnTo>
                  <a:pt x="40402" y="245299"/>
                </a:lnTo>
                <a:cubicBezTo>
                  <a:pt x="30877" y="234583"/>
                  <a:pt x="25559" y="220027"/>
                  <a:pt x="25559" y="204847"/>
                </a:cubicBezTo>
                <a:close/>
                <a:moveTo>
                  <a:pt x="139779" y="128588"/>
                </a:moveTo>
                <a:cubicBezTo>
                  <a:pt x="139779" y="112817"/>
                  <a:pt x="128398" y="100013"/>
                  <a:pt x="114379" y="100013"/>
                </a:cubicBezTo>
                <a:cubicBezTo>
                  <a:pt x="100361" y="100013"/>
                  <a:pt x="88979" y="112817"/>
                  <a:pt x="88979" y="128588"/>
                </a:cubicBezTo>
                <a:cubicBezTo>
                  <a:pt x="88979" y="144358"/>
                  <a:pt x="100361" y="157163"/>
                  <a:pt x="114379" y="157163"/>
                </a:cubicBezTo>
                <a:cubicBezTo>
                  <a:pt x="128398" y="157163"/>
                  <a:pt x="139779" y="144358"/>
                  <a:pt x="139779" y="128588"/>
                </a:cubicBezTo>
                <a:close/>
              </a:path>
            </a:pathLst>
          </a:cu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398000" y="5080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Temas identificados (LDA)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63000" y="5715000"/>
            <a:ext cx="6096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Funcionamiento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Envío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logística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Calidad-precio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Diseño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estética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Accesorios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facilidad de uso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16000" y="8382000"/>
            <a:ext cx="14224000" cy="508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70000" y="8382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Conclusión:</a:t>
            </a: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 LSTM ofrece mejor capacidad para comprender el contexto del lenguaje, aunque NB sigue siendo una alternativa viable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0" y="762000"/>
            <a:ext cx="5080000" cy="5588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88000" y="762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⭐ LO MÁS IMPORTANTE 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78000" y="1651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Demostración en vivo del sistema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540000" y="2540000"/>
            <a:ext cx="1117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D0D0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Interfaz interactiva desarrollada con Gradio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78000" y="3302000"/>
            <a:ext cx="12700000" cy="254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40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476250"/>
                </a:moveTo>
                <a:cubicBezTo>
                  <a:pt x="394295" y="476250"/>
                  <a:pt x="508000" y="369590"/>
                  <a:pt x="508000" y="238125"/>
                </a:cubicBezTo>
                <a:cubicBezTo>
                  <a:pt x="508000" y="106660"/>
                  <a:pt x="394295" y="0"/>
                  <a:pt x="254000" y="0"/>
                </a:cubicBezTo>
                <a:cubicBezTo>
                  <a:pt x="113705" y="0"/>
                  <a:pt x="0" y="106660"/>
                  <a:pt x="0" y="238125"/>
                </a:cubicBezTo>
                <a:cubicBezTo>
                  <a:pt x="0" y="292001"/>
                  <a:pt x="19050" y="341610"/>
                  <a:pt x="51197" y="381496"/>
                </a:cubicBezTo>
                <a:lnTo>
                  <a:pt x="2778" y="473075"/>
                </a:lnTo>
                <a:cubicBezTo>
                  <a:pt x="-1984" y="482005"/>
                  <a:pt x="-496" y="492919"/>
                  <a:pt x="6350" y="500360"/>
                </a:cubicBezTo>
                <a:cubicBezTo>
                  <a:pt x="13196" y="507802"/>
                  <a:pt x="24011" y="510084"/>
                  <a:pt x="33238" y="506115"/>
                </a:cubicBezTo>
                <a:lnTo>
                  <a:pt x="150713" y="455811"/>
                </a:lnTo>
                <a:cubicBezTo>
                  <a:pt x="182265" y="468908"/>
                  <a:pt x="217190" y="476250"/>
                  <a:pt x="254000" y="476250"/>
                </a:cubicBezTo>
                <a:close/>
                <a:moveTo>
                  <a:pt x="127000" y="206375"/>
                </a:moveTo>
                <a:cubicBezTo>
                  <a:pt x="144523" y="206375"/>
                  <a:pt x="158750" y="220602"/>
                  <a:pt x="158750" y="238125"/>
                </a:cubicBezTo>
                <a:cubicBezTo>
                  <a:pt x="158750" y="255648"/>
                  <a:pt x="144523" y="269875"/>
                  <a:pt x="127000" y="269875"/>
                </a:cubicBezTo>
                <a:cubicBezTo>
                  <a:pt x="109477" y="269875"/>
                  <a:pt x="95250" y="255648"/>
                  <a:pt x="95250" y="238125"/>
                </a:cubicBezTo>
                <a:cubicBezTo>
                  <a:pt x="95250" y="220602"/>
                  <a:pt x="109477" y="206375"/>
                  <a:pt x="127000" y="206375"/>
                </a:cubicBezTo>
                <a:close/>
                <a:moveTo>
                  <a:pt x="254000" y="206375"/>
                </a:moveTo>
                <a:cubicBezTo>
                  <a:pt x="271523" y="206375"/>
                  <a:pt x="285750" y="220602"/>
                  <a:pt x="285750" y="238125"/>
                </a:cubicBezTo>
                <a:cubicBezTo>
                  <a:pt x="285750" y="255648"/>
                  <a:pt x="271523" y="269875"/>
                  <a:pt x="254000" y="269875"/>
                </a:cubicBezTo>
                <a:cubicBezTo>
                  <a:pt x="236477" y="269875"/>
                  <a:pt x="222250" y="255648"/>
                  <a:pt x="222250" y="238125"/>
                </a:cubicBezTo>
                <a:cubicBezTo>
                  <a:pt x="222250" y="220602"/>
                  <a:pt x="236477" y="206375"/>
                  <a:pt x="254000" y="206375"/>
                </a:cubicBezTo>
                <a:close/>
                <a:moveTo>
                  <a:pt x="349250" y="238125"/>
                </a:moveTo>
                <a:cubicBezTo>
                  <a:pt x="349250" y="220602"/>
                  <a:pt x="363477" y="206375"/>
                  <a:pt x="381000" y="206375"/>
                </a:cubicBezTo>
                <a:cubicBezTo>
                  <a:pt x="398523" y="206375"/>
                  <a:pt x="412750" y="220602"/>
                  <a:pt x="412750" y="238125"/>
                </a:cubicBezTo>
                <a:cubicBezTo>
                  <a:pt x="412750" y="255648"/>
                  <a:pt x="398523" y="269875"/>
                  <a:pt x="381000" y="269875"/>
                </a:cubicBezTo>
                <a:cubicBezTo>
                  <a:pt x="363477" y="269875"/>
                  <a:pt x="349250" y="255648"/>
                  <a:pt x="349250" y="23812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590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Sentimiento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D0D0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 / Neu / Neg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17714" y="127000"/>
                </a:moveTo>
                <a:cubicBezTo>
                  <a:pt x="217714" y="74430"/>
                  <a:pt x="168937" y="31750"/>
                  <a:pt x="108857" y="31750"/>
                </a:cubicBezTo>
                <a:cubicBezTo>
                  <a:pt x="48777" y="31750"/>
                  <a:pt x="0" y="74430"/>
                  <a:pt x="0" y="127000"/>
                </a:cubicBezTo>
                <a:cubicBezTo>
                  <a:pt x="0" y="179570"/>
                  <a:pt x="48777" y="222250"/>
                  <a:pt x="108857" y="222250"/>
                </a:cubicBezTo>
                <a:cubicBezTo>
                  <a:pt x="168937" y="222250"/>
                  <a:pt x="217714" y="179570"/>
                  <a:pt x="217714" y="127000"/>
                </a:cubicBezTo>
                <a:close/>
                <a:moveTo>
                  <a:pt x="508000" y="381000"/>
                </a:moveTo>
                <a:cubicBezTo>
                  <a:pt x="508000" y="328430"/>
                  <a:pt x="459223" y="285750"/>
                  <a:pt x="399143" y="285750"/>
                </a:cubicBezTo>
                <a:cubicBezTo>
                  <a:pt x="339063" y="285750"/>
                  <a:pt x="290286" y="328430"/>
                  <a:pt x="290286" y="381000"/>
                </a:cubicBezTo>
                <a:cubicBezTo>
                  <a:pt x="290286" y="433570"/>
                  <a:pt x="339063" y="476250"/>
                  <a:pt x="399143" y="476250"/>
                </a:cubicBezTo>
                <a:cubicBezTo>
                  <a:pt x="459223" y="476250"/>
                  <a:pt x="508000" y="433570"/>
                  <a:pt x="508000" y="381000"/>
                </a:cubicBezTo>
                <a:close/>
                <a:moveTo>
                  <a:pt x="497341" y="85923"/>
                </a:moveTo>
                <a:cubicBezTo>
                  <a:pt x="511515" y="73521"/>
                  <a:pt x="511515" y="53380"/>
                  <a:pt x="497341" y="40977"/>
                </a:cubicBezTo>
                <a:cubicBezTo>
                  <a:pt x="483167" y="28575"/>
                  <a:pt x="460148" y="28575"/>
                  <a:pt x="445974" y="40977"/>
                </a:cubicBezTo>
                <a:lnTo>
                  <a:pt x="10546" y="421977"/>
                </a:lnTo>
                <a:cubicBezTo>
                  <a:pt x="-3629" y="434380"/>
                  <a:pt x="-3629" y="454521"/>
                  <a:pt x="10546" y="466923"/>
                </a:cubicBezTo>
                <a:cubicBezTo>
                  <a:pt x="24720" y="479326"/>
                  <a:pt x="47738" y="479326"/>
                  <a:pt x="61913" y="466923"/>
                </a:cubicBezTo>
                <a:lnTo>
                  <a:pt x="497341" y="85923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800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Probabilidades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D0D0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clasificación por clase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2246" y="95250"/>
                </a:moveTo>
                <a:lnTo>
                  <a:pt x="32246" y="243582"/>
                </a:lnTo>
                <a:cubicBezTo>
                  <a:pt x="32246" y="260449"/>
                  <a:pt x="38894" y="276622"/>
                  <a:pt x="50800" y="288528"/>
                </a:cubicBezTo>
                <a:lnTo>
                  <a:pt x="241300" y="479028"/>
                </a:lnTo>
                <a:cubicBezTo>
                  <a:pt x="266105" y="503833"/>
                  <a:pt x="306288" y="503833"/>
                  <a:pt x="331093" y="479028"/>
                </a:cubicBezTo>
                <a:lnTo>
                  <a:pt x="479425" y="330696"/>
                </a:lnTo>
                <a:cubicBezTo>
                  <a:pt x="504230" y="305891"/>
                  <a:pt x="504230" y="265708"/>
                  <a:pt x="479425" y="240903"/>
                </a:cubicBezTo>
                <a:lnTo>
                  <a:pt x="288925" y="50403"/>
                </a:lnTo>
                <a:cubicBezTo>
                  <a:pt x="277019" y="38398"/>
                  <a:pt x="260945" y="31750"/>
                  <a:pt x="244078" y="31750"/>
                </a:cubicBezTo>
                <a:lnTo>
                  <a:pt x="95746" y="31750"/>
                </a:lnTo>
                <a:cubicBezTo>
                  <a:pt x="60722" y="31750"/>
                  <a:pt x="32246" y="60226"/>
                  <a:pt x="32246" y="95250"/>
                </a:cubicBezTo>
                <a:close/>
                <a:moveTo>
                  <a:pt x="143371" y="111125"/>
                </a:moveTo>
                <a:cubicBezTo>
                  <a:pt x="160894" y="111125"/>
                  <a:pt x="175121" y="125352"/>
                  <a:pt x="175121" y="142875"/>
                </a:cubicBezTo>
                <a:cubicBezTo>
                  <a:pt x="175121" y="160398"/>
                  <a:pt x="160894" y="174625"/>
                  <a:pt x="143371" y="174625"/>
                </a:cubicBezTo>
                <a:cubicBezTo>
                  <a:pt x="125848" y="174625"/>
                  <a:pt x="111621" y="160398"/>
                  <a:pt x="111621" y="142875"/>
                </a:cubicBezTo>
                <a:cubicBezTo>
                  <a:pt x="111621" y="125352"/>
                  <a:pt x="125848" y="111125"/>
                  <a:pt x="143371" y="11112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280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Tema principal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D0D0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Identificado por LDA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84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76000" y="4318000"/>
            <a:ext cx="20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Aspectos detectados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D0D0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la reseña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48000" y="6223000"/>
            <a:ext cx="10160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29000" y="6324600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244912" y="16699"/>
                </a:moveTo>
                <a:cubicBezTo>
                  <a:pt x="249128" y="6578"/>
                  <a:pt x="258996" y="0"/>
                  <a:pt x="269875" y="0"/>
                </a:cubicBezTo>
                <a:lnTo>
                  <a:pt x="404813" y="0"/>
                </a:lnTo>
                <a:cubicBezTo>
                  <a:pt x="419740" y="0"/>
                  <a:pt x="431800" y="12060"/>
                  <a:pt x="431800" y="26988"/>
                </a:cubicBezTo>
                <a:lnTo>
                  <a:pt x="431800" y="161925"/>
                </a:lnTo>
                <a:cubicBezTo>
                  <a:pt x="431800" y="172804"/>
                  <a:pt x="425222" y="182672"/>
                  <a:pt x="415101" y="186888"/>
                </a:cubicBezTo>
                <a:cubicBezTo>
                  <a:pt x="404981" y="191105"/>
                  <a:pt x="393427" y="188744"/>
                  <a:pt x="385668" y="181069"/>
                </a:cubicBezTo>
                <a:lnTo>
                  <a:pt x="337344" y="132660"/>
                </a:lnTo>
                <a:lnTo>
                  <a:pt x="207972" y="261947"/>
                </a:lnTo>
                <a:cubicBezTo>
                  <a:pt x="197430" y="272489"/>
                  <a:pt x="180310" y="272489"/>
                  <a:pt x="169768" y="261947"/>
                </a:cubicBezTo>
                <a:cubicBezTo>
                  <a:pt x="159226" y="251405"/>
                  <a:pt x="159226" y="234285"/>
                  <a:pt x="169768" y="223743"/>
                </a:cubicBezTo>
                <a:lnTo>
                  <a:pt x="299140" y="94456"/>
                </a:lnTo>
                <a:lnTo>
                  <a:pt x="250815" y="46047"/>
                </a:lnTo>
                <a:cubicBezTo>
                  <a:pt x="243056" y="38289"/>
                  <a:pt x="240779" y="26734"/>
                  <a:pt x="244996" y="16614"/>
                </a:cubicBezTo>
                <a:close/>
                <a:moveTo>
                  <a:pt x="0" y="148431"/>
                </a:moveTo>
                <a:cubicBezTo>
                  <a:pt x="0" y="111155"/>
                  <a:pt x="30192" y="80962"/>
                  <a:pt x="67469" y="80962"/>
                </a:cubicBezTo>
                <a:lnTo>
                  <a:pt x="134938" y="80962"/>
                </a:lnTo>
                <a:cubicBezTo>
                  <a:pt x="149865" y="80962"/>
                  <a:pt x="161925" y="93023"/>
                  <a:pt x="161925" y="107950"/>
                </a:cubicBezTo>
                <a:cubicBezTo>
                  <a:pt x="161925" y="122877"/>
                  <a:pt x="149865" y="134938"/>
                  <a:pt x="134938" y="134938"/>
                </a:cubicBezTo>
                <a:lnTo>
                  <a:pt x="67469" y="134938"/>
                </a:lnTo>
                <a:cubicBezTo>
                  <a:pt x="60047" y="134938"/>
                  <a:pt x="53975" y="141010"/>
                  <a:pt x="53975" y="148431"/>
                </a:cubicBezTo>
                <a:lnTo>
                  <a:pt x="53975" y="364331"/>
                </a:lnTo>
                <a:cubicBezTo>
                  <a:pt x="53975" y="371753"/>
                  <a:pt x="60047" y="377825"/>
                  <a:pt x="67469" y="377825"/>
                </a:cubicBezTo>
                <a:lnTo>
                  <a:pt x="283369" y="377825"/>
                </a:lnTo>
                <a:cubicBezTo>
                  <a:pt x="290790" y="377825"/>
                  <a:pt x="296863" y="371753"/>
                  <a:pt x="296863" y="364331"/>
                </a:cubicBezTo>
                <a:lnTo>
                  <a:pt x="296863" y="296863"/>
                </a:lnTo>
                <a:cubicBezTo>
                  <a:pt x="296863" y="281935"/>
                  <a:pt x="308923" y="269875"/>
                  <a:pt x="323850" y="269875"/>
                </a:cubicBezTo>
                <a:cubicBezTo>
                  <a:pt x="338777" y="269875"/>
                  <a:pt x="350838" y="281935"/>
                  <a:pt x="350838" y="296863"/>
                </a:cubicBezTo>
                <a:lnTo>
                  <a:pt x="350838" y="364331"/>
                </a:lnTo>
                <a:cubicBezTo>
                  <a:pt x="350838" y="401608"/>
                  <a:pt x="320645" y="431800"/>
                  <a:pt x="283369" y="431800"/>
                </a:cubicBezTo>
                <a:lnTo>
                  <a:pt x="67469" y="431800"/>
                </a:lnTo>
                <a:cubicBezTo>
                  <a:pt x="30192" y="431800"/>
                  <a:pt x="0" y="401608"/>
                  <a:pt x="0" y="364331"/>
                </a:cubicBezTo>
                <a:lnTo>
                  <a:pt x="0" y="14843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64000" y="6223000"/>
            <a:ext cx="876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https://b3fe96af8cce1a1eb0.gradio.live/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40000" y="7493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A0C4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💡 </a:t>
            </a:r>
            <a:r>
              <a:rPr lang="en-US" sz="1600" b="1" dirty="0">
                <a:solidFill>
                  <a:srgbClr val="A0C4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Tip:</a:t>
            </a:r>
            <a:r>
              <a:rPr lang="en-US" sz="1600" dirty="0">
                <a:solidFill>
                  <a:srgbClr val="A0C4D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Probar con reseñas positivas, neutras y negativas, incluyendo casos difíciles con ironía o negación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Desafíos encontrados y decisiones tomadas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850208" y="1778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850208" y="17780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50208" y="17780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s-E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Interpretación de los temas generados por LDA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04208" y="2562654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s-BO" sz="1600" noProof="0" dirty="0"/>
              <a:t>Los temas incluían palabras </a:t>
            </a:r>
            <a:r>
              <a:rPr lang="es-BO" sz="1600" b="1" noProof="0" dirty="0"/>
              <a:t>muy frecuentes</a:t>
            </a:r>
            <a:r>
              <a:rPr lang="es-BO" sz="1600" noProof="0" dirty="0"/>
              <a:t>, pero </a:t>
            </a:r>
            <a:r>
              <a:rPr lang="es-BO" sz="1600" b="1" noProof="0" dirty="0"/>
              <a:t>poco informativas.</a:t>
            </a:r>
          </a:p>
          <a:p>
            <a:pPr>
              <a:lnSpc>
                <a:spcPct val="150000"/>
              </a:lnSpc>
            </a:pPr>
            <a:endParaRPr lang="es-BO" sz="1600" b="1" noProof="0" dirty="0"/>
          </a:p>
          <a:p>
            <a:pPr>
              <a:lnSpc>
                <a:spcPct val="150000"/>
              </a:lnSpc>
            </a:pPr>
            <a:r>
              <a:rPr lang="es-BO" sz="1600" noProof="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Decisión:</a:t>
            </a:r>
            <a:r>
              <a:rPr lang="es-BO" sz="1600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BO" sz="1600" noProof="0" dirty="0"/>
              <a:t>Se incorporaron </a:t>
            </a:r>
            <a:r>
              <a:rPr lang="es-BO" sz="1600" b="1" noProof="0" dirty="0" err="1"/>
              <a:t>stopwords</a:t>
            </a:r>
            <a:r>
              <a:rPr lang="es-BO" sz="1600" b="1" noProof="0" dirty="0"/>
              <a:t> personalizadas</a:t>
            </a:r>
            <a:r>
              <a:rPr lang="es-BO" sz="1600" noProof="0" dirty="0"/>
              <a:t> para obtener temas más interpretables.</a:t>
            </a:r>
          </a:p>
        </p:txBody>
      </p:sp>
      <p:sp>
        <p:nvSpPr>
          <p:cNvPr id="11" name="Shape 9"/>
          <p:cNvSpPr/>
          <p:nvPr/>
        </p:nvSpPr>
        <p:spPr>
          <a:xfrm>
            <a:off x="2413658" y="1778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13658" y="17780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13658" y="1778000"/>
            <a:ext cx="457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s-E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Selección del conjunto de datos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67658" y="26670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s-BO" sz="1600" noProof="0" dirty="0"/>
              <a:t>Disponibilidad limitada de </a:t>
            </a:r>
            <a:r>
              <a:rPr lang="es-BO" sz="1600" noProof="0" dirty="0" err="1"/>
              <a:t>datasets</a:t>
            </a:r>
            <a:r>
              <a:rPr lang="es-BO" sz="1600" noProof="0" dirty="0"/>
              <a:t> de reseñas en español.</a:t>
            </a:r>
          </a:p>
          <a:p>
            <a:pPr>
              <a:lnSpc>
                <a:spcPct val="150000"/>
              </a:lnSpc>
            </a:pPr>
            <a:endParaRPr lang="es-BO" sz="1600" noProof="0" dirty="0"/>
          </a:p>
          <a:p>
            <a:pPr>
              <a:lnSpc>
                <a:spcPct val="150000"/>
              </a:lnSpc>
            </a:pPr>
            <a:r>
              <a:rPr lang="es-BO" sz="1600" noProof="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Decisión:</a:t>
            </a:r>
            <a:r>
              <a:rPr lang="es-BO" sz="1600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BO" sz="1600" noProof="0" dirty="0"/>
              <a:t>Se seleccionó el </a:t>
            </a:r>
            <a:r>
              <a:rPr lang="es-BO" sz="1600" noProof="0" dirty="0" err="1"/>
              <a:t>dataset</a:t>
            </a:r>
            <a:r>
              <a:rPr lang="es-BO" sz="1600" noProof="0" dirty="0"/>
              <a:t> </a:t>
            </a:r>
            <a:r>
              <a:rPr lang="es-BO" sz="1600" b="1" noProof="0" dirty="0"/>
              <a:t>Amazon </a:t>
            </a:r>
            <a:r>
              <a:rPr lang="es-BO" sz="1600" b="1" noProof="0" dirty="0" err="1"/>
              <a:t>Reviews</a:t>
            </a:r>
            <a:r>
              <a:rPr lang="es-BO" sz="1600" b="1" noProof="0" dirty="0"/>
              <a:t> en español</a:t>
            </a:r>
            <a:r>
              <a:rPr lang="es-BO" sz="1600" noProof="0" dirty="0"/>
              <a:t> disponible en </a:t>
            </a:r>
            <a:r>
              <a:rPr lang="es-BO" sz="1600" noProof="0" dirty="0" err="1"/>
              <a:t>Hugging</a:t>
            </a:r>
            <a:r>
              <a:rPr lang="es-BO" sz="1600" noProof="0" dirty="0"/>
              <a:t> </a:t>
            </a:r>
            <a:r>
              <a:rPr lang="es-BO" sz="1600" noProof="0" dirty="0" err="1"/>
              <a:t>Face</a:t>
            </a:r>
            <a:r>
              <a:rPr lang="es-BO" sz="1600" noProof="0" dirty="0"/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1016000" y="5334000"/>
            <a:ext cx="685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6000" y="5334000"/>
            <a:ext cx="6858000" cy="635000"/>
          </a:xfrm>
          <a:prstGeom prst="roundRect">
            <a:avLst>
              <a:gd name="adj" fmla="val 8000"/>
            </a:avLst>
          </a:pr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000" y="5334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Selección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 </a:t>
            </a:r>
            <a:r>
              <a:rPr lang="en-US" sz="2000" b="1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neuronal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70000" y="6223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/>
              <a:t>Se </a:t>
            </a:r>
            <a:r>
              <a:rPr lang="en-US" sz="1600" dirty="0" err="1"/>
              <a:t>evaluó</a:t>
            </a:r>
            <a:r>
              <a:rPr lang="en-US" sz="1600" dirty="0"/>
              <a:t> la </a:t>
            </a:r>
            <a:r>
              <a:rPr lang="en-US" sz="1600" dirty="0" err="1"/>
              <a:t>elección</a:t>
            </a:r>
            <a:r>
              <a:rPr lang="en-US" sz="1600" dirty="0"/>
              <a:t> entre </a:t>
            </a:r>
            <a:r>
              <a:rPr lang="en-US" sz="1600" dirty="0" err="1"/>
              <a:t>arquitecturas</a:t>
            </a:r>
            <a:r>
              <a:rPr lang="en-US" sz="1600" dirty="0"/>
              <a:t> </a:t>
            </a:r>
            <a:r>
              <a:rPr lang="en-US" sz="1600" dirty="0" err="1"/>
              <a:t>recurrentes</a:t>
            </a:r>
            <a:r>
              <a:rPr lang="en-US" sz="1600" dirty="0"/>
              <a:t> (</a:t>
            </a:r>
            <a:r>
              <a:rPr lang="en-US" sz="1600" b="1" dirty="0"/>
              <a:t>GRU</a:t>
            </a:r>
            <a:r>
              <a:rPr lang="en-US" sz="1600" dirty="0"/>
              <a:t> y </a:t>
            </a:r>
            <a:r>
              <a:rPr lang="en-US" sz="1600" b="1" dirty="0"/>
              <a:t>LSTM</a:t>
            </a:r>
            <a:r>
              <a:rPr lang="en-US" sz="1600" dirty="0"/>
              <a:t>).</a:t>
            </a:r>
          </a:p>
          <a:p>
            <a:pPr>
              <a:lnSpc>
                <a:spcPct val="150000"/>
              </a:lnSpc>
            </a:pPr>
            <a:endParaRPr lang="en-US" sz="1600" noProof="0" dirty="0">
              <a:solidFill>
                <a:srgbClr val="6B8E23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50000"/>
              </a:lnSpc>
            </a:pPr>
            <a:r>
              <a:rPr lang="es-BO" sz="1600" noProof="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Decisión: </a:t>
            </a:r>
            <a:r>
              <a:rPr lang="en-US" sz="1600" dirty="0"/>
              <a:t>Se </a:t>
            </a:r>
            <a:r>
              <a:rPr lang="en-US" sz="1600" dirty="0" err="1"/>
              <a:t>seleccionó</a:t>
            </a:r>
            <a:r>
              <a:rPr lang="en-US" sz="1600" dirty="0"/>
              <a:t> </a:t>
            </a:r>
            <a:r>
              <a:rPr lang="en-US" sz="1600" b="1" dirty="0"/>
              <a:t>LSTM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amplio</a:t>
            </a:r>
            <a:r>
              <a:rPr lang="en-US" sz="1600" dirty="0"/>
              <a:t> </a:t>
            </a:r>
            <a:r>
              <a:rPr lang="en-US" sz="1600" dirty="0" err="1"/>
              <a:t>uso</a:t>
            </a:r>
            <a:r>
              <a:rPr lang="en-US" sz="1600" dirty="0"/>
              <a:t> y </a:t>
            </a:r>
            <a:r>
              <a:rPr lang="en-US" sz="1600" dirty="0" err="1"/>
              <a:t>buen</a:t>
            </a:r>
            <a:r>
              <a:rPr lang="en-US" sz="1600" dirty="0"/>
              <a:t> </a:t>
            </a:r>
            <a:r>
              <a:rPr lang="en-US" sz="1600" dirty="0" err="1"/>
              <a:t>desempeño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análisis</a:t>
            </a:r>
            <a:r>
              <a:rPr lang="en-US" sz="1600" dirty="0"/>
              <a:t> de </a:t>
            </a:r>
            <a:r>
              <a:rPr lang="en-US" sz="1600" dirty="0" err="1"/>
              <a:t>sentimientos</a:t>
            </a:r>
            <a:r>
              <a:rPr lang="en-US" sz="1600" dirty="0"/>
              <a:t>.</a:t>
            </a:r>
            <a:endParaRPr lang="es-BO" sz="1600" noProof="0" dirty="0"/>
          </a:p>
        </p:txBody>
      </p:sp>
      <p:sp>
        <p:nvSpPr>
          <p:cNvPr id="19" name="Shape 17"/>
          <p:cNvSpPr/>
          <p:nvPr/>
        </p:nvSpPr>
        <p:spPr>
          <a:xfrm>
            <a:off x="8382000" y="5334000"/>
            <a:ext cx="685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6275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82000" y="5334000"/>
            <a:ext cx="6858000" cy="635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E07A5F"/>
              </a:gs>
              <a:gs pos="100000">
                <a:srgbClr val="6B8E23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82000" y="5334000"/>
            <a:ext cx="6858000" cy="63500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s-E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Sobreajuste durante el entrenamiento de la LSTM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36000" y="6223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s-BO" sz="1600" noProof="0" dirty="0"/>
              <a:t>El modelo mejoraba en entrenamiento, pero empeoraba en validación (</a:t>
            </a:r>
            <a:r>
              <a:rPr lang="es-BO" sz="1600" b="1" noProof="0" dirty="0" err="1"/>
              <a:t>overfitting</a:t>
            </a:r>
            <a:r>
              <a:rPr lang="es-BO" sz="1600" noProof="0" dirty="0"/>
              <a:t>).</a:t>
            </a:r>
            <a:endParaRPr lang="es-BO" sz="1600" noProof="0" dirty="0">
              <a:solidFill>
                <a:srgbClr val="6B8E23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s-BO" sz="1600" noProof="0" dirty="0">
                <a:solidFill>
                  <a:srgbClr val="6B8E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Decisión:</a:t>
            </a:r>
            <a:r>
              <a:rPr lang="es-BO" sz="1600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</a:t>
            </a:r>
            <a:r>
              <a:rPr lang="es-BO" sz="1600" noProof="0" dirty="0"/>
              <a:t>e implementaron </a:t>
            </a:r>
            <a:r>
              <a:rPr lang="es-BO" sz="1600" b="1" noProof="0" dirty="0" err="1"/>
              <a:t>EarlyStopping</a:t>
            </a:r>
            <a:r>
              <a:rPr lang="es-BO" sz="1600" noProof="0" dirty="0"/>
              <a:t> y </a:t>
            </a:r>
            <a:r>
              <a:rPr lang="es-BO" sz="1600" b="1" noProof="0" dirty="0" err="1"/>
              <a:t>ReduceLROnPlateau</a:t>
            </a:r>
            <a:r>
              <a:rPr lang="es-BO" sz="1600" noProof="0" dirty="0"/>
              <a:t> para detener el entrenamiento en la mejor época y mejorar la capacidad de generalización.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762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Conclusiones, limitaciones y mejoras futuras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16000" y="1778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97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6B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32000" y="2032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7000" y="2667000"/>
            <a:ext cx="6096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Solución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completa de PLN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 voz del cliente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 </a:t>
            </a:r>
            <a:r>
              <a:rPr lang="es-BO" sz="1800" b="1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</a:t>
            </a:r>
            <a:r>
              <a:rPr lang="es-BO" sz="1800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alcanzó el mejor desempeño</a:t>
            </a:r>
            <a:r>
              <a:rPr lang="es-BO" noProof="0" dirty="0"/>
              <a:t> pero la </a:t>
            </a:r>
            <a:r>
              <a:rPr lang="es-BO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</a:rPr>
              <a:t>d</a:t>
            </a:r>
            <a:r>
              <a:rPr lang="es-BO" sz="1800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iferencia con NB fue </a:t>
            </a:r>
            <a:r>
              <a:rPr lang="es-BO" sz="1800" b="1" noProof="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pequeña.</a:t>
            </a:r>
            <a:endParaRPr lang="es-BO" sz="1800" noProof="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NB sigue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siendo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778000"/>
            <a:ext cx="6858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3137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63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21444"/>
                </a:moveTo>
                <a:cubicBezTo>
                  <a:pt x="240476" y="121444"/>
                  <a:pt x="250031" y="130999"/>
                  <a:pt x="250031" y="142875"/>
                </a:cubicBezTo>
                <a:lnTo>
                  <a:pt x="250031" y="242888"/>
                </a:lnTo>
                <a:cubicBezTo>
                  <a:pt x="250031" y="254764"/>
                  <a:pt x="240476" y="264319"/>
                  <a:pt x="228600" y="264319"/>
                </a:cubicBezTo>
                <a:cubicBezTo>
                  <a:pt x="216724" y="264319"/>
                  <a:pt x="207169" y="254764"/>
                  <a:pt x="207169" y="242888"/>
                </a:cubicBezTo>
                <a:lnTo>
                  <a:pt x="207169" y="142875"/>
                </a:lnTo>
                <a:cubicBezTo>
                  <a:pt x="207169" y="130999"/>
                  <a:pt x="216724" y="121444"/>
                  <a:pt x="228600" y="121444"/>
                </a:cubicBezTo>
                <a:close/>
                <a:moveTo>
                  <a:pt x="204758" y="314325"/>
                </a:moveTo>
                <a:cubicBezTo>
                  <a:pt x="204215" y="305475"/>
                  <a:pt x="208629" y="297055"/>
                  <a:pt x="216215" y="292466"/>
                </a:cubicBezTo>
                <a:cubicBezTo>
                  <a:pt x="223802" y="287877"/>
                  <a:pt x="233309" y="287877"/>
                  <a:pt x="240895" y="292466"/>
                </a:cubicBezTo>
                <a:cubicBezTo>
                  <a:pt x="248482" y="297055"/>
                  <a:pt x="252895" y="305475"/>
                  <a:pt x="252353" y="314325"/>
                </a:cubicBezTo>
                <a:cubicBezTo>
                  <a:pt x="252895" y="323175"/>
                  <a:pt x="248482" y="331595"/>
                  <a:pt x="240895" y="336184"/>
                </a:cubicBezTo>
                <a:cubicBezTo>
                  <a:pt x="233309" y="340773"/>
                  <a:pt x="223802" y="340773"/>
                  <a:pt x="216215" y="336184"/>
                </a:cubicBezTo>
                <a:cubicBezTo>
                  <a:pt x="208629" y="331595"/>
                  <a:pt x="204215" y="323175"/>
                  <a:pt x="204758" y="31432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98000" y="2032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C4D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Limitaciones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63000" y="2667000"/>
            <a:ext cx="6096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Precisión moderada (~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69%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Dependencia del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vocabulario de </a:t>
            </a:r>
            <a:r>
              <a:rPr lang="en-US" sz="1800" b="1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entrenamiento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Dificultad con </a:t>
            </a: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ironía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expresiones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complejas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Dominio específico (reseñas de productos)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5461000"/>
            <a:ext cx="14224000" cy="304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1C4D5F"/>
              </a:gs>
              <a:gs pos="100000">
                <a:srgbClr val="2A6B80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97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2000" y="5715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Trabajo futuro y mejoras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6350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Evaluar </a:t>
            </a:r>
            <a:r>
              <a:rPr lang="en-US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BETO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(Transformers para español)</a:t>
            </a:r>
            <a:endParaRPr lang="en-US" dirty="0"/>
          </a:p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Comparar rendimiento con arquitecturas </a:t>
            </a:r>
            <a:r>
              <a:rPr lang="en-US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</a:t>
            </a:r>
            <a:endParaRPr lang="en-US" dirty="0"/>
          </a:p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Incorporar técnicas </a:t>
            </a:r>
            <a:r>
              <a:rPr lang="en-US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supervisadas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 detección de aspectos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2000" y="6350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Desplegar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 aplicación en la nube</a:t>
            </a:r>
            <a:endParaRPr lang="en-US" dirty="0"/>
          </a:p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Expandir a </a:t>
            </a:r>
            <a:r>
              <a:rPr lang="en-US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más categorías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 productos</a:t>
            </a:r>
            <a:endParaRPr lang="en-US" dirty="0"/>
          </a:p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</a:t>
            </a:r>
            <a:r>
              <a:rPr lang="en-US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Mejorar manejo de </a:t>
            </a:r>
            <a:r>
              <a:rPr lang="en-US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negación e ironía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4D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28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318000" y="4318000"/>
            <a:ext cx="7620000" cy="279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26000" y="45720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Jennifer Suarez Gutiérrez</a:t>
            </a:r>
            <a:endParaRPr lang="en-US" sz="2400" dirty="0"/>
          </a:p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Maestría en Ciencia de Datos e IA</a:t>
            </a:r>
            <a:endParaRPr lang="en-US" sz="2400" dirty="0"/>
          </a:p>
          <a:p>
            <a:pPr algn="ctr">
              <a:lnSpc>
                <a:spcPct val="18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Universidad Católica Boliviana San Pablo</a:t>
            </a:r>
            <a:endParaRPr lang="en-US" sz="2400" dirty="0"/>
          </a:p>
          <a:p>
            <a:pPr algn="ctr">
              <a:lnSpc>
                <a:spcPct val="180000"/>
              </a:lnSpc>
              <a:spcBef>
                <a:spcPts val="1200"/>
              </a:spcBef>
            </a:pPr>
            <a:r>
              <a:rPr lang="en-US" sz="1800" b="1" u="sng" dirty="0">
                <a:solidFill>
                  <a:srgbClr val="E07A5F"/>
                </a:solidFill>
                <a:uFill>
                  <a:solidFill>
                    <a:srgbClr val="E07A5F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en vivo 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78000" y="76200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A0A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Santa Cruz de la Sierra, Bolivia · Julio 2026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911</Words>
  <Application>Microsoft Office PowerPoint</Application>
  <PresentationFormat>Personalizado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Liter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para el análisis de la voz del cliente en reseñas de productos</dc:title>
  <dc:subject>Sistema inteligente para el análisis de la voz del cliente en reseñas de productos</dc:subject>
  <dc:creator>Kimi</dc:creator>
  <cp:lastModifiedBy>Jennifer Suárez Gutiérrez</cp:lastModifiedBy>
  <cp:revision>3</cp:revision>
  <dcterms:created xsi:type="dcterms:W3CDTF">2026-07-12T20:42:57Z</dcterms:created>
  <dcterms:modified xsi:type="dcterms:W3CDTF">2026-07-12T21:31:29Z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{"Label":"Sistema inteligente para el análisis de la voz del cliente en reseñas de productos","ContentProducer":"001191110108MACG2KBH8F10000","ProduceID":"19f5804f-0702-84a9-8000-000027c4b821","ReservedCode1":"","ContentPropagator":"001191110108MACG2KBH8F20000","PropagateID":"19f57fed-1d22-8e97-8000-091a89fd45f8","ReservedCode2":""}</vt:lpwstr>
  </property>
</Properties>
</file>